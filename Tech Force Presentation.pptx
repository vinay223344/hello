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9970" autoAdjust="0"/>
    <p:restoredTop sz="99500" autoAdjust="0"/>
  </p:normalViewPr>
  <p:slideViewPr>
    <p:cSldViewPr snapToGrid="0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eg"/></Relationships>
</file>

<file path=ppt/slideLayouts/slideLayout1.xml><?xml version="1.0" encoding="utf-8"?>
<p:sldLayout xmlns:p="http://schemas.openxmlformats.org/presentationml/2006/main" showMasterSp="0" type="title" preserve="1">
  <p:cSld name="标题幻灯片">
    <p:bg>
      <p:bgPr>
        <a:blipFill xmlns:a="http://schemas.openxmlformats.org/drawingml/2006/main">
          <a:blip xmlns:r="http://schemas.openxmlformats.org/officeDocument/2006/relationships" r:embed="rId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 rot="0">
            <a:off x="1524000" y="1122363"/>
            <a:ext cx="9144000" cy="2387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chemeClr val="tx1"/>
                </a:solidFill>
                <a:latin typeface="Aptos Display" pitchFamily="0" charset="0"/>
                <a:ea typeface="宋体" pitchFamily="0" charset="0"/>
                <a:cs typeface="Lucida Sans" pitchFamily="0" charset="0"/>
              </a:rPr>
              <a:t>Click to edit Master title style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Aptos Display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0">
            <a:off x="1524000" y="3602038"/>
            <a:ext cx="9144000" cy="165576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宋体" pitchFamily="0" charset="0"/>
                <a:cs typeface="Lucida Sans" pitchFamily="0" charset="0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8382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038600" y="6356349"/>
            <a:ext cx="411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106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pitchFamily="0" charset="0"/>
                <a:ea typeface="宋体" pitchFamily="0" charset="0"/>
                <a:cs typeface="Aptos" pitchFamily="0" charset="0"/>
              </a:rPr>
              <a:t>&lt;#&gt;</a:t>
            </a:fld>
            <a:endParaRPr lang="zh-CN" altLang="en-US" sz="1200" b="0" i="0" u="none" strike="noStrike" kern="1200" cap="none" spc="0" baseline="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123000"/>
      </p:ext>
    </p:extLst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755708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67873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761740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64323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457512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965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15935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119255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209067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12017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blipFill xmlns:a="http://schemas.openxmlformats.org/drawingml/2006/main">
          <a:blip xmlns:r="http://schemas.openxmlformats.org/officeDocument/2006/relationships" r:embed="rId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838200" y="365124"/>
            <a:ext cx="10515600" cy="132556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5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838200" y="1825625"/>
            <a:ext cx="10515600" cy="4351338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6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8382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17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038600" y="6356349"/>
            <a:ext cx="411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18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106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pitchFamily="0" charset="0"/>
                <a:ea typeface="宋体" pitchFamily="0" charset="0"/>
                <a:cs typeface="Aptos" pitchFamily="0" charset="0"/>
              </a:rPr>
              <a:t>&lt;#&gt;</a:t>
            </a:fld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148539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blipFill xmlns:a="http://schemas.openxmlformats.org/drawingml/2006/main">
          <a:blip xmlns:r="http://schemas.openxmlformats.org/officeDocument/2006/relationships" r:embed="rId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1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8382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32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038600" y="6356349"/>
            <a:ext cx="411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33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106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pitchFamily="0" charset="0"/>
                <a:ea typeface="宋体" pitchFamily="0" charset="0"/>
                <a:cs typeface="Aptos" pitchFamily="0" charset="0"/>
              </a:rPr>
              <a:t>&lt;#&gt;</a:t>
            </a:fld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861407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838200" y="1825625"/>
            <a:ext cx="10515600" cy="435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767676"/>
                </a:solidFill>
                <a:latin typeface="Aptos" pitchFamily="0" charset="0"/>
                <a:ea typeface="宋体" pitchFamily="0" charset="0"/>
                <a:cs typeface="Aptos" pitchFamily="0" charset="0"/>
              </a:rPr>
              <a:t>8/11/2025</a:t>
            </a:fld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pitchFamily="0" charset="0"/>
                <a:ea typeface="宋体" pitchFamily="0" charset="0"/>
                <a:cs typeface="Aptos" pitchFamily="0" charset="0"/>
              </a:rPr>
              <a:t>&lt;#&gt;</a:t>
            </a:fld>
            <a:endParaRPr lang="zh-CN" altLang="en-US" sz="1200">
              <a:solidFill>
                <a:srgbClr val="767676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89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ptos Display" pitchFamily="0" charset="0"/>
          <a:ea typeface="宋体" pitchFamily="0" charset="0"/>
          <a:cs typeface="Aptos Display" pitchFamily="0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宋体" pitchFamily="0" charset="0"/>
          <a:cs typeface="Aptos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rgbClr val="FF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Designing a Scalable E-Commerce Platform for Buyers and Sellers</a:t>
            </a:r>
            <a:endParaRPr lang="en-US" altLang="zh-CN" sz="4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Aptos Display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subTitle" idx="1"/>
          </p:nvPr>
        </p:nvSpPr>
        <p:spPr>
          <a:xfrm rot="0">
            <a:off x="1524000" y="3128363"/>
            <a:ext cx="9144000" cy="21294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070C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  Team – TechForce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1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.N.Lavanya Sri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    2.N.Durga Bhavani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     3.O.Monik Paparao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99364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CONTENTS</a:t>
            </a:r>
            <a:endParaRPr lang="zh-CN" altLang="en-US" sz="44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body" idx="1"/>
          </p:nvPr>
        </p:nvSpPr>
        <p:spPr>
          <a:xfrm rot="0">
            <a:off x="838200" y="1588788"/>
            <a:ext cx="10515600" cy="45881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Problem Statement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Introduction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High Level Design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Low Level Design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Database Schema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Functional requirements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Non Functional Requirements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Conclusion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653521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Problem Statement</a:t>
            </a:r>
            <a:endParaRPr lang="zh-CN" altLang="en-US" sz="36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body" idx="1"/>
          </p:nvPr>
        </p:nvSpPr>
        <p:spPr>
          <a:xfrm rot="0">
            <a:off x="838200" y="1547598"/>
            <a:ext cx="10515600" cy="403212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Consumers need a seamless online shopping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experienceto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browse, search, and purchase products from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multiplesellers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in one platform.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Building a scalable system that supports a large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numberof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buyers and sellers simultaneously is complex.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The platform must handle diverse product catalogs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andprovide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fast, accurate search and browsing features.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Ensuring secure and reliable transactions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acrossmultiple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sellers adds to the challenge.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40369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Introduction</a:t>
            </a:r>
            <a:endParaRPr lang="zh-CN" altLang="en-US" sz="36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 rot="0">
            <a:off x="838200" y="1506409"/>
            <a:ext cx="10515600" cy="435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Online shopping demand is rapidly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increasing,requiring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platforms to support many users and sellers.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Customers want a single platform to easily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browseand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buy products from multiple sellers.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Building a system that scales efficiently with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largetraffic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and diverse product catalogs is challenging.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Fast and accurate search functionality is critical for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agood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user experience.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Ensuring secure and reliable transactions is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essentialfor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trust and platform success.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2915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8930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High Level Design</a:t>
            </a:r>
            <a:endParaRPr lang="zh-CN" altLang="en-US" sz="36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 rot="0">
            <a:off x="838200" y="1166598"/>
            <a:ext cx="10515600" cy="5391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Goal: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         Develop a scalable and modular e-commerce platform.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Core Components: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Users (Customers)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Sellers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User Service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Product Service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Cart Service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Order Service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Authentication Service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宋体" pitchFamily="0" charset="0"/>
                <a:cs typeface="Lucida Sans" pitchFamily="0" charset="0"/>
              </a:rPr>
              <a:t>Seller Dashboard Service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02955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Technology Stack</a:t>
            </a:r>
            <a:endParaRPr lang="zh-CN" altLang="en-US" sz="44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body" idx="1"/>
          </p:nvPr>
        </p:nvSpPr>
        <p:spPr>
          <a:xfrm rot="0">
            <a:off x="942973" y="1587242"/>
            <a:ext cx="10515600" cy="4351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Frontend: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Angular, HTML, CSS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Backend: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Express Js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, Node.js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Database: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MongoDB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Communication: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         Messaging: Email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External Systems:</a:t>
            </a:r>
            <a:endParaRPr lang="en-US" altLang="zh-CN" sz="2700" b="1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COD system for Payment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649457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Overview of System Diagram</a:t>
            </a:r>
            <a:endParaRPr lang="zh-CN" altLang="en-US" sz="36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30" name="文本框"/>
          <p:cNvSpPr>
            <a:spLocks noGrp="1"/>
          </p:cNvSpPr>
          <p:nvPr>
            <p:ph type="body" idx="1"/>
          </p:nvPr>
        </p:nvSpPr>
        <p:spPr>
          <a:xfrm rot="0">
            <a:off x="838200" y="1588787"/>
            <a:ext cx="10515600" cy="435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Product Display &amp; Filtering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Calibri" pitchFamily="0" charset="0"/>
              <a:cs typeface="Calibri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Cart System (Add/Remov</a:t>
            </a: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e</a:t>
            </a: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)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Calibri" pitchFamily="0" charset="0"/>
              <a:cs typeface="Calibri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Processing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Calibri" pitchFamily="0" charset="0"/>
              <a:cs typeface="Calibri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Order </a:t>
            </a: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Updates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Calibri" pitchFamily="0" charset="0"/>
              <a:cs typeface="Calibri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Mail Updates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Calibri" pitchFamily="0" charset="0"/>
              <a:cs typeface="Calibri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Calibri" pitchFamily="0" charset="0"/>
                <a:cs typeface="Calibri" pitchFamily="0" charset="0"/>
              </a:rPr>
              <a:t>Authentication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Calibri" pitchFamily="0" charset="0"/>
              <a:cs typeface="Calibri" pitchFamily="0" charset="0"/>
            </a:endParaRPr>
          </a:p>
          <a:p>
            <a:pPr marL="228600" indent="-2286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Calibri" pitchFamily="0" charset="0"/>
              <a:cs typeface="Calibri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196042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"/>
          <p:cNvSpPr>
            <a:spLocks/>
          </p:cNvSpPr>
          <p:nvPr/>
        </p:nvSpPr>
        <p:spPr>
          <a:xfrm rot="0">
            <a:off x="1807960" y="1214507"/>
            <a:ext cx="7743916" cy="48634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Stakeholders: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End users (Buyers &amp; Sellers)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Developers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Evaluators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Scope: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Product listing &amp; browsing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Search and filtering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Shopping cart &amp; checkout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Order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updates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Reviews and ratings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20356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"/>
          <p:cNvSpPr>
            <a:spLocks noGrp="1"/>
          </p:cNvSpPr>
          <p:nvPr>
            <p:ph type="title"/>
          </p:nvPr>
        </p:nvSpPr>
        <p:spPr>
          <a:xfrm rot="0">
            <a:off x="838200" y="498990"/>
            <a:ext cx="10515600" cy="93426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Low Level Design – Key Entities</a:t>
            </a:r>
            <a:endParaRPr lang="zh-CN" altLang="en-US" sz="36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36" name="文本框"/>
          <p:cNvSpPr>
            <a:spLocks noGrp="1"/>
          </p:cNvSpPr>
          <p:nvPr>
            <p:ph type="body" idx="1"/>
          </p:nvPr>
        </p:nvSpPr>
        <p:spPr>
          <a:xfrm rot="0">
            <a:off x="838200" y="1434328"/>
            <a:ext cx="10515600" cy="4722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User:</a:t>
            </a:r>
            <a:endParaRPr lang="en-US" altLang="zh-CN" sz="2700" b="1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Name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Email Id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Password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Product: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Filters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Search attributes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Cart: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Add/remove items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Quantity management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518573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"/>
          <p:cNvSpPr>
            <a:spLocks/>
          </p:cNvSpPr>
          <p:nvPr/>
        </p:nvSpPr>
        <p:spPr>
          <a:xfrm rot="0">
            <a:off x="1569837" y="1012737"/>
            <a:ext cx="9150209" cy="459676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Payment: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Payment methods(COD)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Payment status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Seller: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Product dispatch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 pitchFamily="0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Amount collection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Deliver</a:t>
            </a: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y: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Order I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D, D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elivery OTP, D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elivery status, Handover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Feedback</a:t>
            </a: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 &amp; Queries: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The User can make contact to admin for queries.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285562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 rot="0">
            <a:off x="1104895" y="727068"/>
            <a:ext cx="10515600" cy="7695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Database Schema</a:t>
            </a:r>
            <a:endParaRPr lang="zh-CN" altLang="en-US" sz="44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 rot="0">
            <a:off x="1028697" y="1536523"/>
            <a:ext cx="10515600" cy="50309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215B95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Entities:</a:t>
            </a:r>
            <a:endParaRPr lang="en-US" altLang="zh-CN" sz="2800" b="0" i="0" u="none" strike="noStrike" kern="1200" cap="none" spc="0" baseline="0">
              <a:solidFill>
                <a:srgbClr val="215B95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User</a:t>
            </a: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s </a:t>
            </a: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Table: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 Nam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e,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email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, password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Product Table: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 ID,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Name, Image, Email, Price, Uploaded time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Cart Table: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Id Email, Product Id, Product Name, Product Image, Product Price, Quantity, Seller Email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Order Table: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ID, Email, items,total amount, payment mode, Adrdess, Delivery OTP, Order Date, Oder Status, Delivery Status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Sellers </a:t>
            </a:r>
            <a:r>
              <a:rPr lang="en-US" altLang="zh-CN" sz="27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Table: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 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Id, Name, Email, Password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8058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8312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Functional Requirements</a:t>
            </a:r>
            <a:endParaRPr lang="zh-CN" altLang="en-US" sz="36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41" name="文本框"/>
          <p:cNvSpPr>
            <a:spLocks noGrp="1"/>
          </p:cNvSpPr>
          <p:nvPr>
            <p:ph type="body" idx="1"/>
          </p:nvPr>
        </p:nvSpPr>
        <p:spPr>
          <a:xfrm rot="0">
            <a:off x="838200" y="1197490"/>
            <a:ext cx="10515600" cy="497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Scalability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System should handle growing numbers of users, products, and orders.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Performance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Fast response times for search, checkout, and product loading (&lt;2 seconds preferred).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Reliability &amp; Availability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High uptime (e.g., 99.9%) to ensure continuous service availability.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Security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Secure user authentication (OTP, encryption).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Safe handling of payment and personal data (e.g., SSL, tokenization).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Maintainability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Modular code and services for easy updates and debugging.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347313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 rot="0">
            <a:off x="869476" y="828072"/>
            <a:ext cx="10209187" cy="5330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Usability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Intuitive UI/UX for both customers and sellers.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Compatibility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Responsive design across browsers and mobile devices.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Logging and Monitoring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Proper system logs for debugging and real-time monitoring of service health.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Data Consistency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All transactions (orders, payments, returns) should maintain data integrity.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Localization (Optional)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Support for multiple languages and currencies, if planning to scale globally.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36611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9239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Non-Functional Requirements</a:t>
            </a:r>
            <a:endParaRPr lang="zh-CN" altLang="en-US" sz="44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 rot="0">
            <a:off x="838200" y="1310761"/>
            <a:ext cx="10515600" cy="486620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Scalability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System should handle growing numbers of users, products, and orders.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Performance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Fast response times for search, checkout, and product loading (&lt;2 seconds preferred).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Reliability &amp; Availability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High uptime (e.g., 99.9%) to ensure continuous service availability.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Security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Secure user authentication (OTP, encryption).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Safe handling of payment and personal data (e.g., SSL, tokenization).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Maintainability</a:t>
            </a:r>
            <a:endParaRPr lang="en-US" altLang="zh-CN" sz="25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宋体" pitchFamily="0" charset="0"/>
                <a:cs typeface="Lucida Sans" pitchFamily="0" charset="0"/>
              </a:rPr>
              <a:t>Modular code and services for easy updates and debugging.</a:t>
            </a:r>
            <a:endParaRPr lang="en-US" altLang="zh-CN" sz="26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21089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"/>
          <p:cNvSpPr>
            <a:spLocks/>
          </p:cNvSpPr>
          <p:nvPr/>
        </p:nvSpPr>
        <p:spPr>
          <a:xfrm rot="0">
            <a:off x="513219" y="593452"/>
            <a:ext cx="11173985" cy="62445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Usability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lvl="1" marL="7429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Intuitive, user-friendly UI/UX optimized for mobile and web platforms.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lvl="1" marL="7429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Clear navigation, accessible design, and fast-loading pages improve user satisfaction.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Reliability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lvl="1" marL="7429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System should automatically recover from service failures (auto-retry, health checks).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lvl="1" marL="7429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Order, payment, and delivery data must remain consistent even during failures.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Logging &amp; Monitoring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lvl="1" marL="7429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All services should log key activities (e.g., logins, transactions, failures).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lvl="1" marL="7429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Monitoring tools (e.g., Prometheus, ELK stack) should track uptime, API response times, and error rates.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Data Integrity &amp; Consistency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lvl="1" marL="7429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All operations (like payment, refund, inventory updates) must maintain ACID properties to prevent data corruption.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994707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8930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C00000"/>
                </a:solidFill>
                <a:latin typeface="Times New Roman" pitchFamily="0" charset="0"/>
                <a:ea typeface="宋体" pitchFamily="0" charset="0"/>
                <a:cs typeface="Times New Roman" pitchFamily="0" charset="0"/>
              </a:rPr>
              <a:t>Conclusion</a:t>
            </a:r>
            <a:endParaRPr lang="zh-CN" altLang="en-US" sz="3600" b="0" i="0" u="none" strike="noStrike" kern="1200" cap="none" spc="0" baseline="0">
              <a:solidFill>
                <a:srgbClr val="C00000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</p:txBody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 rot="0">
            <a:off x="838200" y="1259274"/>
            <a:ext cx="10515600" cy="47426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The e-commerce platform is designed with a modular and scalable architecture for smooth expansion.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It supports core features like product listing, cart management, order processing, and payment integration.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Microservices ensure each module operates independently for better maintainability and performance.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Secure authentication and communication channels enhance user trust and reliability.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Times New Roman" pitchFamily="0" charset="0"/>
                <a:ea typeface="Aptos" pitchFamily="0" charset="0"/>
                <a:cs typeface="Aptos" pitchFamily="0" charset="0"/>
              </a:rPr>
              <a:t>The platform is adaptable for future enhancements like AI-based recommendations and personalized user experience.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Times New Roman" pitchFamily="0" charset="0"/>
              <a:ea typeface="宋体" pitchFamily="0" charset="0"/>
              <a:cs typeface="Times New Roman" pitchFamily="0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2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18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root</cp:lastModifiedBy>
  <cp:revision>156</cp:revision>
  <dcterms:created xsi:type="dcterms:W3CDTF">2025-08-02T12:38:56Z</dcterms:created>
  <dcterms:modified xsi:type="dcterms:W3CDTF">2025-08-11T14:22:57Z</dcterms:modified>
</cp:coreProperties>
</file>