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1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kinsoku lang="zh-CN" invalStChars="!%),.:;?]}¨·ˇˉ་―‖’”…‰∶、。〃々〉》」』】〕〗！＂＇％），．：；？］｀｜｝～￠" invalEndChars="([{·‘“〈《「『【〔〖（．［｛￡￥"/>
  <p:defaultTextStyle>
    <a:defPPr>
      <a:defRPr lang="zh-CN"/>
    </a:defPPr>
    <a:lvl1pPr marL="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1pPr>
    <a:lvl2pPr marL="4572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2pPr>
    <a:lvl3pPr marL="914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3pPr>
    <a:lvl4pPr marL="13716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4pPr>
    <a:lvl5pPr marL="18288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5pPr>
    <a:lvl6pPr marL="22860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6pPr>
    <a:lvl7pPr marL="27432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7pPr>
    <a:lvl8pPr marL="3200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8pPr>
    <a:lvl9pPr marL="3200400" indent="0" algn="l" defTabSz="914400" eaLnBrk="1" fontAlgn="auto" latinLnBrk="0" hangingPunct="1">
      <a:buNone/>
      <a:defRPr sz="1800" kern="1200">
        <a:solidFill>
          <a:schemeClr val="tx1"/>
        </a:solidFill>
        <a:latin typeface="Droid Sans" charset="0"/>
        <a:ea typeface="宋体" charset="0"/>
        <a:cs typeface="Droid Sans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 xmlns="">
          <a:srgbClr val="FF0000"/>
        </p14:laserClr>
      </p:ext>
    </p:extLst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9970" autoAdjust="0"/>
    <p:restoredTop sz="99500" autoAdjust="0"/>
  </p:normalViewPr>
  <p:slideViewPr>
    <p:cSldViewPr snapToGrid="0">
      <p:cViewPr varScale="1">
        <p:scale>
          <a:sx n="116" d="100"/>
          <a:sy n="116" d="100"/>
        </p:scale>
        <p:origin x="-144" y="-10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0" y="0"/>
      </p:cViewPr>
      <p:guideLst/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6000" b="0" i="0" u="none" strike="noStrike" kern="1200" cap="none" spc="0" baseline="0">
                <a:solidFill>
                  <a:schemeClr val="tx1"/>
                </a:solidFill>
                <a:latin typeface="Aptos Display" charset="0"/>
                <a:ea typeface="宋体" charset="0"/>
                <a:cs typeface="Lucida Sans" charset="0"/>
              </a:rPr>
              <a:t>Click to edit Master title style</a:t>
            </a:r>
            <a:endParaRPr lang="zh-CN" altLang="en-US" sz="6000" b="0" i="0" u="none" strike="noStrike" kern="1200" cap="none" spc="0" baseline="0">
              <a:solidFill>
                <a:schemeClr val="tx1"/>
              </a:solidFill>
              <a:latin typeface="Aptos Display" charset="0"/>
              <a:ea typeface="宋体" charset="0"/>
              <a:cs typeface="Lucida Sans" charset="0"/>
            </a:endParaRPr>
          </a:p>
        </p:txBody>
      </p:sp>
      <p:sp>
        <p:nvSpPr>
          <p:cNvPr id="8" name="文本框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Aptos" charset="0"/>
                <a:ea typeface="宋体" charset="0"/>
                <a:cs typeface="Lucida Sans" charset="0"/>
              </a:rPr>
              <a:t>Click to edit Master subtitle style</a:t>
            </a: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  <p:sp>
        <p:nvSpPr>
          <p:cNvPr id="9" name="文本框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kern="1200" cap="none" spc="0" baseline="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10" name="文本框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200" b="0" i="0" u="none" strike="noStrike" kern="1200" cap="none" spc="0" baseline="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11" name="文本框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CAD2D6BD-DE1B-4B5F-8B41-2702339687B9}" type="slidenum">
              <a:rPr lang="en-US" altLang="zh-CN" sz="1200" b="0" i="0" u="none" strike="noStrike" kern="1200" cap="none" spc="0" baseline="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marL="0" indent="0" algn="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t>‹#›</a:t>
            </a:fld>
            <a:endParaRPr lang="zh-CN" altLang="en-US" sz="1200" b="0" i="0" u="none" strike="noStrike" kern="1200" cap="none" spc="0" baseline="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9301230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893755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57867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447761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4" name="文本框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6" name="文本框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8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2746643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115457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281589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995915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 smtClean="0"/>
              <a:t>单击此处编辑母版文本样式</a:t>
            </a:r>
          </a:p>
        </p:txBody>
      </p:sp>
      <p:sp>
        <p:nvSpPr>
          <p:cNvPr id="5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6531192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1501209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14870-5082-4025-BC8A-5E070B8EB77D}" type="datetimeFigureOut">
              <a:rPr lang="zh-CN" altLang="en-US" smtClean="0"/>
              <a:pPr/>
              <a:t>2025/8/12</a:t>
            </a:fld>
            <a:endParaRPr lang="zh-CN" altLang="en-US"/>
          </a:p>
        </p:txBody>
      </p:sp>
      <p:sp>
        <p:nvSpPr>
          <p:cNvPr id="5" name="文本框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文本框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00D155-3BB6-43CF-9AC4-BC63A66E74A9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xmlns="" val="7011201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15" name="文本框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16" name="文本框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l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17" name="文本框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ctr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18" name="文本框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algn="r"/>
              <a:t>‹#›</a:t>
            </a:fld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7014853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文本框"/>
          <p:cNvSpPr>
            <a:spLocks noGrp="1"/>
          </p:cNvSpPr>
          <p:nvPr>
            <p:ph type="dt" idx="10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l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32" name="文本框"/>
          <p:cNvSpPr>
            <a:spLocks noGrp="1"/>
          </p:cNvSpPr>
          <p:nvPr>
            <p:ph type="ftr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ctr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33" name="文本框"/>
          <p:cNvSpPr>
            <a:spLocks noGrp="1"/>
          </p:cNvSpPr>
          <p:nvPr>
            <p:ph type="sldNum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algn="r"/>
              <a:t>‹#›</a:t>
            </a:fld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0798614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5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文本框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文本框"/>
          <p:cNvSpPr>
            <a:spLocks noGrp="1"/>
          </p:cNvSpPr>
          <p:nvPr>
            <p:ph type="dt" idx="2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l"/>
            <a:fld id="{CAD2D6BD-DE1B-4B5F-8B41-2702339687B9}" type="datetime1">
              <a:rPr lang="en-US" altLang="zh-CN" sz="120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algn="l"/>
              <a:t>8/12/2025</a:t>
            </a:fld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5" name="文本框"/>
          <p:cNvSpPr>
            <a:spLocks noGrp="1"/>
          </p:cNvSpPr>
          <p:nvPr>
            <p:ph type="ftr" idx="3"/>
          </p:nvPr>
        </p:nvSpPr>
        <p:spPr>
          <a:xfrm>
            <a:off x="4038600" y="6356349"/>
            <a:ext cx="41148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ctr"/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  <p:sp>
        <p:nvSpPr>
          <p:cNvPr id="6" name="文本框"/>
          <p:cNvSpPr>
            <a:spLocks noGrp="1"/>
          </p:cNvSpPr>
          <p:nvPr>
            <p:ph type="sldNum" idx="4"/>
          </p:nvPr>
        </p:nvSpPr>
        <p:spPr>
          <a:xfrm>
            <a:off x="8610600" y="6356349"/>
            <a:ext cx="2743200" cy="36512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algn="r"/>
            <a:fld id="{CAD2D6BD-DE1B-4B5F-8B41-2702339687B9}" type="slidenum">
              <a:rPr lang="en-US" altLang="zh-CN" sz="1200" b="0" i="0" u="none" strike="noStrike" kern="1200" cap="none" spc="0" baseline="0">
                <a:solidFill>
                  <a:srgbClr val="767676"/>
                </a:solidFill>
                <a:latin typeface="Aptos" charset="0"/>
                <a:ea typeface="宋体" charset="0"/>
                <a:cs typeface="Aptos" charset="0"/>
              </a:rPr>
              <a:pPr algn="r"/>
              <a:t>‹#›</a:t>
            </a:fld>
            <a:endParaRPr lang="zh-CN" altLang="en-US" sz="1200">
              <a:solidFill>
                <a:srgbClr val="767676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878974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lvl1pPr algn="l" defTabSz="914400" eaLnBrk="1" fontAlgn="auto" latinLnBrk="0" hangingPunct="1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Aptos Display" charset="0"/>
          <a:ea typeface="宋体" charset="0"/>
          <a:cs typeface="Aptos Display" charset="0"/>
        </a:defRPr>
      </a:lvl1pPr>
    </p:titleStyle>
    <p:bodyStyle>
      <a:lvl1pPr marL="228600" indent="-228600" algn="l" defTabSz="914400" eaLnBrk="1" fontAlgn="auto" latinLnBrk="0" hangingPunct="1">
        <a:lnSpc>
          <a:spcPct val="90000"/>
        </a:lnSpc>
        <a:spcBef>
          <a:spcPts val="1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1pPr>
      <a:lvl2pPr marL="6858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24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2pPr>
      <a:lvl3pPr marL="11430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20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3pPr>
      <a:lvl4pPr marL="16002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4pPr>
      <a:lvl5pPr marL="20574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5pPr>
      <a:lvl6pPr marL="25146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6pPr>
      <a:lvl7pPr marL="29718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7pPr>
      <a:lvl8pPr marL="34290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8pPr>
      <a:lvl9pPr marL="3429000" indent="-228600" algn="l" defTabSz="914400" eaLnBrk="1" fontAlgn="auto" latinLnBrk="0" hangingPunct="1">
        <a:lnSpc>
          <a:spcPct val="90000"/>
        </a:lnSpc>
        <a:spcBef>
          <a:spcPts val="500"/>
        </a:spcBef>
        <a:buFont typeface="Arial" pitchFamily="34" charset="0"/>
        <a:buChar char="•"/>
        <a:defRPr sz="1800" kern="1200">
          <a:solidFill>
            <a:schemeClr val="tx1"/>
          </a:solidFill>
          <a:latin typeface="Aptos" charset="0"/>
          <a:ea typeface="宋体" charset="0"/>
          <a:cs typeface="Aptos" charset="0"/>
        </a:defRPr>
      </a:lvl9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框"/>
          <p:cNvSpPr>
            <a:spLocks noGrp="1"/>
          </p:cNvSpPr>
          <p:nvPr>
            <p:ph type="ctrTitle"/>
          </p:nvPr>
        </p:nvSpPr>
        <p:spPr>
          <a:xfrm>
            <a:off x="1573427" y="1353022"/>
            <a:ext cx="9144000" cy="238760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1" i="0" u="none" strike="noStrike" kern="1200" cap="none" spc="0" baseline="0" dirty="0" smtClean="0">
                <a:solidFill>
                  <a:srgbClr val="002060"/>
                </a:solidFill>
                <a:latin typeface="Times New Roman" charset="0"/>
                <a:ea typeface="宋体" charset="0"/>
                <a:cs typeface="Times New Roman" charset="0"/>
              </a:rPr>
              <a:t>Team: TECH FORCE</a:t>
            </a:r>
            <a:r>
              <a:rPr lang="en-US" altLang="zh-CN" sz="4400" b="1" i="0" u="none" strike="noStrike" kern="1200" cap="none" spc="0" baseline="0" dirty="0" smtClean="0">
                <a:solidFill>
                  <a:srgbClr val="FF0000"/>
                </a:solidFill>
                <a:latin typeface="Times New Roman" charset="0"/>
                <a:ea typeface="宋体" charset="0"/>
                <a:cs typeface="Times New Roman" charset="0"/>
              </a:rPr>
              <a:t/>
            </a:r>
            <a:br>
              <a:rPr lang="en-US" altLang="zh-CN" sz="4400" b="1" i="0" u="none" strike="noStrike" kern="1200" cap="none" spc="0" baseline="0" dirty="0" smtClean="0">
                <a:solidFill>
                  <a:srgbClr val="FF0000"/>
                </a:solidFill>
                <a:latin typeface="Times New Roman" charset="0"/>
                <a:ea typeface="宋体" charset="0"/>
                <a:cs typeface="Times New Roman" charset="0"/>
              </a:rPr>
            </a:br>
            <a:r>
              <a:rPr lang="en-US" altLang="zh-CN" sz="4400" b="1" i="0" u="none" strike="noStrike" kern="1200" cap="none" spc="0" baseline="0" dirty="0" smtClean="0">
                <a:solidFill>
                  <a:schemeClr val="accent2"/>
                </a:solidFill>
                <a:latin typeface="Times New Roman" charset="0"/>
                <a:ea typeface="宋体" charset="0"/>
                <a:cs typeface="Times New Roman" charset="0"/>
              </a:rPr>
              <a:t>Designing </a:t>
            </a:r>
            <a:r>
              <a:rPr lang="en-US" altLang="zh-CN" sz="4400" b="1" i="0" u="none" strike="noStrike" kern="1200" cap="none" spc="0" baseline="0" dirty="0">
                <a:solidFill>
                  <a:schemeClr val="accent2"/>
                </a:solidFill>
                <a:latin typeface="Times New Roman" charset="0"/>
                <a:ea typeface="宋体" charset="0"/>
                <a:cs typeface="Times New Roman" charset="0"/>
              </a:rPr>
              <a:t>a Scalable E-Commerce Platform for Buyers and Sellers</a:t>
            </a:r>
            <a:endParaRPr lang="en-US" altLang="zh-CN" sz="4400" b="0" i="0" u="none" strike="noStrike" kern="1200" cap="none" spc="0" baseline="0" dirty="0">
              <a:solidFill>
                <a:schemeClr val="accent2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6000" b="0" i="0" u="none" strike="noStrike" kern="1200" cap="none" spc="0" baseline="0" dirty="0">
              <a:solidFill>
                <a:schemeClr val="tx1"/>
              </a:solidFill>
              <a:latin typeface="Aptos Display" charset="0"/>
              <a:ea typeface="宋体" charset="0"/>
              <a:cs typeface="Lucida Sans" charset="0"/>
            </a:endParaRPr>
          </a:p>
        </p:txBody>
      </p:sp>
      <p:sp>
        <p:nvSpPr>
          <p:cNvPr id="13" name="文本框"/>
          <p:cNvSpPr>
            <a:spLocks noGrp="1"/>
          </p:cNvSpPr>
          <p:nvPr>
            <p:ph type="subTitle" idx="1"/>
          </p:nvPr>
        </p:nvSpPr>
        <p:spPr>
          <a:xfrm>
            <a:off x="1524000" y="3128363"/>
            <a:ext cx="9144000" cy="2129437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ctr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rgbClr val="0070C0"/>
                </a:solidFill>
                <a:latin typeface="Times New Roman" charset="0"/>
                <a:ea typeface="宋体" charset="0"/>
                <a:cs typeface="Times New Roman" charset="0"/>
              </a:rPr>
              <a:t>   </a:t>
            </a:r>
            <a:r>
              <a:rPr lang="en-US" altLang="zh-CN" sz="2700" b="0" i="0" u="none" strike="noStrike" kern="1200" cap="none" spc="0" baseline="0" dirty="0" smtClean="0">
                <a:solidFill>
                  <a:srgbClr val="0070C0"/>
                </a:solidFill>
                <a:latin typeface="Times New Roman" charset="0"/>
                <a:ea typeface="宋体" charset="0"/>
                <a:cs typeface="Times New Roman" charset="0"/>
              </a:rPr>
              <a:t>Project:</a:t>
            </a:r>
            <a:r>
              <a:rPr lang="en-US" altLang="zh-CN" sz="2700" b="0" i="0" u="none" strike="noStrike" kern="1200" cap="none" spc="0" dirty="0" smtClean="0">
                <a:solidFill>
                  <a:srgbClr val="0070C0"/>
                </a:solidFill>
                <a:latin typeface="Times New Roman" charset="0"/>
                <a:ea typeface="宋体" charset="0"/>
                <a:cs typeface="Times New Roman" charset="0"/>
              </a:rPr>
              <a:t> DeLux Mart</a:t>
            </a:r>
            <a:endParaRPr lang="en-US" altLang="zh-CN" sz="2400" b="0" i="0" u="none" strike="noStrike" kern="1200" cap="none" spc="0" baseline="0" dirty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  <a:p>
            <a:pPr marL="0" indent="0" algn="ctr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rgbClr val="000000"/>
                </a:solidFill>
                <a:latin typeface="Times New Roman" charset="0"/>
                <a:ea typeface="宋体" charset="0"/>
                <a:cs typeface="Times New Roman" charset="0"/>
              </a:rPr>
              <a:t>1</a:t>
            </a:r>
            <a:r>
              <a:rPr lang="en-US" altLang="zh-CN" sz="2700" b="0" i="0" u="none" strike="noStrike" kern="1200" cap="none" spc="0" baseline="0" dirty="0" smtClean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. N.Lavanya Sri (Y22CS125)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ctr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    2</a:t>
            </a:r>
            <a:r>
              <a:rPr lang="en-US" altLang="zh-CN" sz="2700" b="0" i="0" u="none" strike="noStrike" kern="1200" cap="none" spc="0" baseline="0" dirty="0" smtClean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. N.Durga Bhavani (Y22CS126)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ctr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     3</a:t>
            </a:r>
            <a:r>
              <a:rPr lang="en-US" altLang="zh-CN" sz="2700" b="0" i="0" u="none" strike="noStrike" kern="1200" cap="none" spc="0" baseline="0" dirty="0" smtClean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. O.Monik Paparao (Y22CS139)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lang="zh-CN" altLang="en-US" sz="2400" b="0" i="0" u="none" strike="noStrike" kern="1200" cap="none" spc="0" baseline="0" dirty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8309936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CONTENTS</a:t>
            </a:r>
            <a:endParaRPr lang="zh-CN" altLang="en-US" sz="44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0" name="文本框"/>
          <p:cNvSpPr>
            <a:spLocks noGrp="1"/>
          </p:cNvSpPr>
          <p:nvPr>
            <p:ph type="body" idx="1"/>
          </p:nvPr>
        </p:nvSpPr>
        <p:spPr>
          <a:xfrm>
            <a:off x="838200" y="1588788"/>
            <a:ext cx="10515600" cy="458817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Problem Statement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Introduction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High Level Design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Low Level Design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Database Schema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Functional requirements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Non Functional Requirements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Conclusion</a:t>
            </a:r>
          </a:p>
          <a:p>
            <a:pPr marL="228600" indent="-228600" algn="l">
              <a:lnSpc>
                <a:spcPct val="79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093653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Problem Statement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2" name="文本框"/>
          <p:cNvSpPr>
            <a:spLocks noGrp="1"/>
          </p:cNvSpPr>
          <p:nvPr>
            <p:ph type="body" idx="1"/>
          </p:nvPr>
        </p:nvSpPr>
        <p:spPr>
          <a:xfrm>
            <a:off x="838200" y="1547598"/>
            <a:ext cx="10515600" cy="403212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Consumers need a seamless online shopping experienceto browse, search, and purchase products from multiplesellers in one platform.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Building a scalable system that supports a large numberof buyers and sellers simultaneously is complex.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The platform must handle diverse product catalogs andprovide fast, accurate search and browsing features.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Ensuring secure and reliable transactions acrossmultiple sellers adds to the challenge.</a:t>
            </a: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550403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Introduction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4" name="文本框"/>
          <p:cNvSpPr>
            <a:spLocks noGrp="1"/>
          </p:cNvSpPr>
          <p:nvPr>
            <p:ph type="body" idx="1"/>
          </p:nvPr>
        </p:nvSpPr>
        <p:spPr>
          <a:xfrm>
            <a:off x="838200" y="1506409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Online shopping demand is rapidly increasing,requiring platforms to support many users and sellers.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Customers want a single platform to easily browseand buy products from multiple sellers.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Building a system that scales efficiently with largetraffic and diverse product catalogs is challenging.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Fast and accurate search functionality is critical for agood user experience.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Ensuring secure and reliable transactions is essentialfor trust and platform success.</a:t>
            </a:r>
          </a:p>
          <a:p>
            <a:pPr marL="228600" indent="-228600" algn="l">
              <a:lnSpc>
                <a:spcPct val="79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472915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893076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High Level Design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6" name="文本框"/>
          <p:cNvSpPr>
            <a:spLocks noGrp="1"/>
          </p:cNvSpPr>
          <p:nvPr>
            <p:ph type="body" idx="1"/>
          </p:nvPr>
        </p:nvSpPr>
        <p:spPr>
          <a:xfrm>
            <a:off x="838200" y="1166598"/>
            <a:ext cx="10515600" cy="539136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Goal: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</a:t>
            </a:r>
            <a:endParaRPr lang="en-US" altLang="zh-CN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         Develop a scalable and modular e-commerce platform.</a:t>
            </a: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Core Components: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Users (Customers)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Sellers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User Service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Product Service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Cart Service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Order Service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Authentication Service</a:t>
            </a: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800" b="0" i="0" u="none" strike="noStrike" kern="1200" cap="none" spc="0" baseline="0">
                <a:solidFill>
                  <a:schemeClr val="tx1"/>
                </a:solidFill>
                <a:latin typeface="Aptos" charset="0"/>
                <a:ea typeface="宋体" charset="0"/>
                <a:cs typeface="Lucida Sans" charset="0"/>
              </a:rPr>
              <a:t>Seller Dashboard Service</a:t>
            </a: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7300295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Technology Stack</a:t>
            </a:r>
            <a:endParaRPr lang="zh-CN" altLang="en-US" sz="44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28" name="文本框"/>
          <p:cNvSpPr>
            <a:spLocks noGrp="1"/>
          </p:cNvSpPr>
          <p:nvPr>
            <p:ph type="body" idx="1"/>
          </p:nvPr>
        </p:nvSpPr>
        <p:spPr>
          <a:xfrm>
            <a:off x="942973" y="1587242"/>
            <a:ext cx="10515600" cy="4351337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Frontend: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Angular, HTML, CSS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Backend: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Express Js, Node.js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Database: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MongoDB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Communication: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         Messaging: Email</a:t>
            </a: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External Systems:</a:t>
            </a: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COD system for Payment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None/>
            </a:pP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5016494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1325562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Overview of System Diagram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30" name="文本框"/>
          <p:cNvSpPr>
            <a:spLocks noGrp="1"/>
          </p:cNvSpPr>
          <p:nvPr>
            <p:ph type="body" idx="1"/>
          </p:nvPr>
        </p:nvSpPr>
        <p:spPr>
          <a:xfrm>
            <a:off x="838200" y="1588787"/>
            <a:ext cx="10515600" cy="435133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Product Display &amp; Filtering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Cart System (Add/Remove)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Processing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Order Updates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Mail Updates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32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Calibri" charset="0"/>
                <a:cs typeface="Calibri" charset="0"/>
              </a:rPr>
              <a:t>Authentication</a:t>
            </a:r>
          </a:p>
          <a:p>
            <a:pPr marL="228600" indent="-228600" algn="l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en-US" altLang="zh-CN" sz="32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Calibri" charset="0"/>
              <a:cs typeface="Calibri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73196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"/>
          <p:cNvSpPr>
            <a:spLocks/>
          </p:cNvSpPr>
          <p:nvPr/>
        </p:nvSpPr>
        <p:spPr>
          <a:xfrm>
            <a:off x="1807960" y="1214507"/>
            <a:ext cx="7743916" cy="4863465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Stakeholders: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End users (Buyers &amp; Sellers)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Developers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Evaluators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Scope: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Product listing &amp; browsing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Search and filtering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Shopping cart &amp; checkout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Order updates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Reviews and ratings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1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Apto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502035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文本框"/>
          <p:cNvSpPr>
            <a:spLocks noGrp="1"/>
          </p:cNvSpPr>
          <p:nvPr>
            <p:ph type="title"/>
          </p:nvPr>
        </p:nvSpPr>
        <p:spPr>
          <a:xfrm>
            <a:off x="838200" y="498990"/>
            <a:ext cx="10515600" cy="934266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Low Level Design – Key Entities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36" name="文本框"/>
          <p:cNvSpPr>
            <a:spLocks noGrp="1"/>
          </p:cNvSpPr>
          <p:nvPr>
            <p:ph type="body" idx="1"/>
          </p:nvPr>
        </p:nvSpPr>
        <p:spPr>
          <a:xfrm>
            <a:off x="838200" y="1434328"/>
            <a:ext cx="10515600" cy="472204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User: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Name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Email Id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Password</a:t>
            </a:r>
          </a:p>
          <a:p>
            <a:pPr marL="0" indent="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Product: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Filters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Search attributes</a:t>
            </a:r>
          </a:p>
          <a:p>
            <a:pPr marL="0" indent="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Cart: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Add/remove items</a:t>
            </a:r>
          </a:p>
          <a:p>
            <a:pPr marL="228600" indent="-228600" algn="l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Quantity management</a:t>
            </a:r>
          </a:p>
          <a:p>
            <a:pPr marL="228600" indent="-228600" algn="l">
              <a:lnSpc>
                <a:spcPct val="79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7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871518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"/>
          <p:cNvSpPr>
            <a:spLocks/>
          </p:cNvSpPr>
          <p:nvPr/>
        </p:nvSpPr>
        <p:spPr>
          <a:xfrm>
            <a:off x="1569837" y="1012737"/>
            <a:ext cx="9150209" cy="4596766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Payment: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Payment methods(COD)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Payment status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Seller: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Product dispatch</a:t>
            </a: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,Sans-Serif" charset="0"/>
              <a:buChar char="•"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Amount collection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Delivery: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Order ID, Delivery OTP, Delivery status, Handover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1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Feedback &amp; Queries:</a:t>
            </a:r>
            <a:endParaRPr lang="en-US" altLang="zh-CN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700" b="0" i="0" u="none" strike="noStrike" kern="1200" cap="none" spc="0" baseline="0" dirty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The User can make contact to admin for queries.</a:t>
            </a: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2700" b="0" i="0" u="none" strike="noStrike" kern="1200" cap="none" spc="0" baseline="0" dirty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8042855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文本框"/>
          <p:cNvSpPr>
            <a:spLocks noGrp="1"/>
          </p:cNvSpPr>
          <p:nvPr>
            <p:ph type="title"/>
          </p:nvPr>
        </p:nvSpPr>
        <p:spPr>
          <a:xfrm>
            <a:off x="1104895" y="727068"/>
            <a:ext cx="10515600" cy="76950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Database Schema</a:t>
            </a:r>
            <a:endParaRPr lang="zh-CN" altLang="en-US" sz="44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39" name="文本框"/>
          <p:cNvSpPr>
            <a:spLocks noGrp="1"/>
          </p:cNvSpPr>
          <p:nvPr>
            <p:ph type="body" idx="1"/>
          </p:nvPr>
        </p:nvSpPr>
        <p:spPr>
          <a:xfrm>
            <a:off x="1028697" y="1536523"/>
            <a:ext cx="10515600" cy="503095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800" b="1" i="0" u="none" strike="noStrike" kern="1200" cap="none" spc="0" baseline="0">
                <a:solidFill>
                  <a:srgbClr val="215B95"/>
                </a:solidFill>
                <a:latin typeface="Times New Roman" charset="0"/>
                <a:ea typeface="Aptos" charset="0"/>
                <a:cs typeface="Aptos" charset="0"/>
              </a:rPr>
              <a:t>Entities:</a:t>
            </a:r>
            <a:endParaRPr lang="en-US" altLang="zh-CN" sz="2800" b="0" i="0" u="none" strike="noStrike" kern="1200" cap="none" spc="0" baseline="0">
              <a:solidFill>
                <a:srgbClr val="215B95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Users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Name,email, password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Product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ID, Name, Image, Email, Price, Uploaded time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Cart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Id Email, Product Id, Product Name, Product Image, Product Price, Quantity, Seller Email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Order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ID, Email, items,total amount, payment mode, Adrdess, Delivery OTP, Order Date, Oder Status, Delivery Status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Sellers Table:</a:t>
            </a: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 Id, Name, Email, Password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18880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831291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Functional Requirements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41" name="文本框"/>
          <p:cNvSpPr>
            <a:spLocks noGrp="1"/>
          </p:cNvSpPr>
          <p:nvPr>
            <p:ph type="body" idx="1"/>
          </p:nvPr>
        </p:nvSpPr>
        <p:spPr>
          <a:xfrm>
            <a:off x="838200" y="1197490"/>
            <a:ext cx="10515600" cy="4979473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Scalability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System should handle growing numbers of users, products, and orders.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Performance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Fast response times for search, checkout, and product loading (&lt;2 seconds preferred).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Reliability &amp; Availability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High uptime (e.g., 99.9%) to ensure continuous service availability.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Security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Secure user authentication (OTP, encryption).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Safe handling of payment and personal data (e.g., SSL, tokenization).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Maintainability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Modular code and services for easy updates and debugging.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2743473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"/>
          <p:cNvSpPr>
            <a:spLocks/>
          </p:cNvSpPr>
          <p:nvPr/>
        </p:nvSpPr>
        <p:spPr>
          <a:xfrm>
            <a:off x="869476" y="828072"/>
            <a:ext cx="10209187" cy="533019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Usability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Intuitive UI/UX for both customers and sellers.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Compatibility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Responsive design across browsers and mobile devices.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Logging and Monitoring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Proper system logs for debugging and real-time monitoring of service health.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Data Consistency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All transactions (orders, payments, returns) should maintain data integrity.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Localization (Optional)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Support for multiple languages and currencies, if planning to scale globally.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zh-CN" altLang="en-US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373661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923968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44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Non-Functional Requirements</a:t>
            </a:r>
            <a:endParaRPr lang="zh-CN" altLang="en-US" sz="44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44" name="文本框"/>
          <p:cNvSpPr>
            <a:spLocks noGrp="1"/>
          </p:cNvSpPr>
          <p:nvPr>
            <p:ph type="body" idx="1"/>
          </p:nvPr>
        </p:nvSpPr>
        <p:spPr>
          <a:xfrm>
            <a:off x="838200" y="1310761"/>
            <a:ext cx="10515600" cy="4866201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Scalability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System should handle growing numbers of users, products, and orders.</a:t>
            </a:r>
          </a:p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Performance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Fast response times for search, checkout, and product loading (&lt;2 seconds preferred).</a:t>
            </a:r>
          </a:p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Reliability &amp; Availability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High uptime (e.g., 99.9%) to ensure continuous service availability.</a:t>
            </a:r>
          </a:p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Security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Secure user authentication (OTP, encryption).</a:t>
            </a: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Safe handling of payment and personal data (e.g., SSL, tokenization).</a:t>
            </a:r>
          </a:p>
          <a:p>
            <a:pPr marL="0" indent="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altLang="zh-CN" sz="25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Times New Roman" charset="0"/>
              </a:rPr>
              <a:t>Maintainability</a:t>
            </a:r>
            <a:endParaRPr lang="en-US" altLang="zh-CN" sz="25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5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宋体" charset="0"/>
                <a:cs typeface="Lucida Sans" charset="0"/>
              </a:rPr>
              <a:t>Modular code and services for easy updates and debugging.</a:t>
            </a:r>
            <a:endParaRPr lang="en-US" altLang="zh-CN" sz="26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7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6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422210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"/>
          <p:cNvSpPr>
            <a:spLocks/>
          </p:cNvSpPr>
          <p:nvPr/>
        </p:nvSpPr>
        <p:spPr>
          <a:xfrm>
            <a:off x="513219" y="593452"/>
            <a:ext cx="11173985" cy="6244590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Usability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Intuitive, user-friendly UI/UX optimized for mobile and web platforms.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Clear navigation, accessible design, and fast-loading pages improve user satisfaction.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Reliability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System should automatically recover from service failures (auto-retry, health checks).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Order, payment, and delivery data must remain consistent even during failures.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Logging &amp; Monitoring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All services should log key activities (e.g., logins, transactions, failures).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Monitoring tools (e.g., Prometheus, ELK stack) should track uptime, API response times, and error rates.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b="1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Data Integrity &amp; Consistency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742950" lvl="1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4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All operations (like payment, refund, inventory updates) must maintain ACID properties to prevent data corruption.</a:t>
            </a:r>
            <a:endParaRPr lang="en-US" altLang="zh-CN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8575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4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15994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文本框"/>
          <p:cNvSpPr>
            <a:spLocks noGrp="1"/>
          </p:cNvSpPr>
          <p:nvPr>
            <p:ph type="title"/>
          </p:nvPr>
        </p:nvSpPr>
        <p:spPr>
          <a:xfrm>
            <a:off x="838200" y="365124"/>
            <a:ext cx="10515600" cy="893076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b="0" i="0" u="none" strike="noStrike" kern="1200" cap="none" spc="0" baseline="0">
                <a:solidFill>
                  <a:srgbClr val="C00000"/>
                </a:solidFill>
                <a:latin typeface="Times New Roman" charset="0"/>
                <a:ea typeface="宋体" charset="0"/>
                <a:cs typeface="Times New Roman" charset="0"/>
              </a:rPr>
              <a:t>Conclusion</a:t>
            </a:r>
            <a:endParaRPr lang="zh-CN" altLang="en-US" sz="3600" b="0" i="0" u="none" strike="noStrike" kern="1200" cap="none" spc="0" baseline="0">
              <a:solidFill>
                <a:srgbClr val="C00000"/>
              </a:solidFill>
              <a:latin typeface="Times New Roman" charset="0"/>
              <a:ea typeface="宋体" charset="0"/>
              <a:cs typeface="Times New Roman" charset="0"/>
            </a:endParaRPr>
          </a:p>
        </p:txBody>
      </p:sp>
      <p:sp>
        <p:nvSpPr>
          <p:cNvPr id="47" name="文本框"/>
          <p:cNvSpPr>
            <a:spLocks noGrp="1"/>
          </p:cNvSpPr>
          <p:nvPr>
            <p:ph type="body" idx="1"/>
          </p:nvPr>
        </p:nvSpPr>
        <p:spPr>
          <a:xfrm>
            <a:off x="838200" y="1259274"/>
            <a:ext cx="10515600" cy="4742634"/>
          </a:xfrm>
          <a:prstGeom prst="rect">
            <a:avLst/>
          </a:prstGeom>
          <a:noFill/>
          <a:ln w="12700" cap="flat" cmpd="sng">
            <a:noFill/>
            <a:prstDash val="solid"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The e-commerce platform is designed with a modular and scalable architecture for smooth expansion.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It supports core features like product listing, cart management, order processing, and payment integration.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Microservices ensure each module operates independently for better maintainability and performance.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Secure authentication and communication channels enhance user trust and reliability.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r>
              <a:rPr lang="en-US" altLang="zh-CN" sz="2700" b="0" i="0" u="none" strike="noStrike" kern="1200" cap="none" spc="0" baseline="0">
                <a:solidFill>
                  <a:schemeClr val="tx1"/>
                </a:solidFill>
                <a:latin typeface="Times New Roman" charset="0"/>
                <a:ea typeface="Aptos" charset="0"/>
                <a:cs typeface="Aptos" charset="0"/>
              </a:rPr>
              <a:t>The platform is adaptable for future enhancements like AI-based recommendations and personalized user experience.</a:t>
            </a:r>
            <a:endParaRPr lang="en-US" altLang="zh-CN" sz="2700" b="0" i="0" u="none" strike="noStrike" kern="1200" cap="none" spc="0" baseline="0">
              <a:solidFill>
                <a:schemeClr val="tx1"/>
              </a:solidFill>
              <a:latin typeface="Times New Roman" charset="0"/>
              <a:ea typeface="宋体" charset="0"/>
              <a:cs typeface="Times New Roman" charset="0"/>
            </a:endParaRPr>
          </a:p>
          <a:p>
            <a:pPr marL="2286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itchFamily="34" charset="0"/>
              <a:buChar char="•"/>
            </a:pPr>
            <a:endParaRPr lang="zh-CN" altLang="en-US" sz="2800" b="0" i="0" u="none" strike="noStrike" kern="1200" cap="none" spc="0" baseline="0">
              <a:solidFill>
                <a:schemeClr val="tx1"/>
              </a:solidFill>
              <a:latin typeface="Aptos" charset="0"/>
              <a:ea typeface="宋体" charset="0"/>
              <a:cs typeface="Lucida Sans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6906207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"/>
        <a:ea typeface=""/>
        <a:cs typeface=""/>
      </a:majorFont>
      <a:minorFont>
        <a:latin typeface=""/>
        <a:ea typeface=""/>
        <a:cs typeface=""/>
      </a:minorFont>
    </a:fontScheme>
    <a:fmtScheme name="office theme">
      <a:fillStyleLst>
        <a:solidFill>
          <a:schemeClr val="phClr"/>
        </a:solidFill>
        <a:gradFill/>
        <a:gradFill/>
      </a:fillStyleLst>
      <a:lnStyleLst>
        <a:ln/>
        <a:ln/>
        <a:ln/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/>
        <a:gradFill/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Normal.eit</Template>
  <TotalTime>22</TotalTime>
  <Words>779</Words>
  <Application>Yozo_Office</Application>
  <PresentationFormat>Custom</PresentationFormat>
  <Paragraphs>142</Paragraphs>
  <Slides>16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office theme</vt:lpstr>
      <vt:lpstr>Team: TECH FORCE Designing a Scalable E-Commerce Platform for Buyers and Sellers </vt:lpstr>
      <vt:lpstr>CONTENTS</vt:lpstr>
      <vt:lpstr>Problem Statement</vt:lpstr>
      <vt:lpstr>Introduction</vt:lpstr>
      <vt:lpstr>High Level Design</vt:lpstr>
      <vt:lpstr>Technology Stack</vt:lpstr>
      <vt:lpstr>Overview of System Diagram</vt:lpstr>
      <vt:lpstr>Slide 8</vt:lpstr>
      <vt:lpstr>Low Level Design – Key Entities</vt:lpstr>
      <vt:lpstr>Slide 10</vt:lpstr>
      <vt:lpstr>Database Schema</vt:lpstr>
      <vt:lpstr>Functional Requirements</vt:lpstr>
      <vt:lpstr>Slide 13</vt:lpstr>
      <vt:lpstr>Non-Functional Requirements</vt:lpstr>
      <vt:lpstr>Slide 15</vt:lpstr>
      <vt:lpstr>Conclusion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FORCE Designing a Scalable E-Commerce Platform for Buyers and Sellers </dc:title>
  <cp:lastModifiedBy>exam2</cp:lastModifiedBy>
  <cp:revision>158</cp:revision>
  <dcterms:created xsi:type="dcterms:W3CDTF">2025-08-02T12:38:56Z</dcterms:created>
  <dcterms:modified xsi:type="dcterms:W3CDTF">2025-08-12T03:39:46Z</dcterms:modified>
</cp:coreProperties>
</file>